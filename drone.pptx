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5" r:id="rId1"/>
    <p:sldMasterId id="2147483779" r:id="rId2"/>
  </p:sldMasterIdLst>
  <p:notesMasterIdLst>
    <p:notesMasterId r:id="rId11"/>
  </p:notesMasterIdLst>
  <p:sldIdLst>
    <p:sldId id="262" r:id="rId3"/>
    <p:sldId id="257" r:id="rId4"/>
    <p:sldId id="258" r:id="rId5"/>
    <p:sldId id="263" r:id="rId6"/>
    <p:sldId id="264" r:id="rId7"/>
    <p:sldId id="265" r:id="rId8"/>
    <p:sldId id="266" r:id="rId9"/>
    <p:sldId id="26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8" autoAdjust="0"/>
    <p:restoredTop sz="94660"/>
  </p:normalViewPr>
  <p:slideViewPr>
    <p:cSldViewPr snapToGrid="0">
      <p:cViewPr>
        <p:scale>
          <a:sx n="75" d="100"/>
          <a:sy n="75" d="100"/>
        </p:scale>
        <p:origin x="811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DB6F53-EAC3-41D1-9037-D025B256B3B4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E090DA-8A1D-41AE-BA12-B66DDC1783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66514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E090DA-8A1D-41AE-BA12-B66DDC1783FC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22842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4CD9D-70EF-EE29-D0EB-0E7A889D85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BA72D8-5CA9-CACE-1F7E-17C8891FCB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FD25CB-A69D-2647-578D-2A9EFAF38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0163D-5A86-4829-8491-599B41356034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32D730-1288-2670-55D4-BAB43F5F6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E8D89C-4044-10A0-4480-98CA9C7E7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5BFDE-0E8D-4578-A896-E88A5A1148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4163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D49EB-ED62-E624-7EBA-E2B020FA2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AD9369-4A37-6F49-9CAB-D303266885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CC9D9B-2A30-8BC4-F65E-10EF5C68F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0163D-5A86-4829-8491-599B41356034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92C4CB-1EEF-6F5A-644F-7E508C530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65201B-349F-A44F-D3A4-829222BE4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5BFDE-0E8D-4578-A896-E88A5A1148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3172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D4877-4A27-3D78-7ECF-005CDC2A8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8C5B8C-4D42-D45B-46D4-1D855227F0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659E5C-0FD7-C5AA-DCE3-640AE608F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0163D-5A86-4829-8491-599B41356034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E410F9-A335-F579-17B2-61624C2DA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8B93B1-55C7-F8B8-9BB5-FAF82F16D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5BFDE-0E8D-4578-A896-E88A5A1148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2251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AC4B4-388D-B118-FE04-1A071433B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0D7E21-B258-5392-D2A3-8CD0DC2E53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5FC954-0904-E8E8-28F3-5C52A6623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4B4F68-0C05-6418-FCB4-75569D910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0163D-5A86-4829-8491-599B41356034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E0B10A-73D3-A9E2-5ADA-DEFC3B8D3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F5CE45-7059-5D01-371C-5C76C6807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5BFDE-0E8D-4578-A896-E88A5A1148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6169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C7F64-6B90-505E-B73E-0CC2BAB03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730DC7-AF9A-F61A-C656-1872A676BB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4C6FE8-705B-2876-53D7-B0F0C4BB07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6CDBF8-8AE9-C2BE-2E93-E1981DE115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382F3C-56CE-4F29-7040-79BF7A68E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B60813-310A-86E0-863C-A86B243E8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0163D-5A86-4829-8491-599B41356034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C3DA81-ADF3-FA60-BF7A-FE8F5D5D6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A89139-7A05-ECE4-AD05-F626D88F8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5BFDE-0E8D-4578-A896-E88A5A1148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49509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7A0B7-B62B-0B30-13AF-8BB9A3CFB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BC89BC-4173-F1E9-B6E9-5D7C1FC07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0163D-5A86-4829-8491-599B41356034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389888-EA71-A0DE-97D5-A651B5A35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4D9F5F-4457-4E73-9CD1-DFF5F0787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5BFDE-0E8D-4578-A896-E88A5A1148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2804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2A7694-1E68-067C-2C0A-6C6E1EB8F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0163D-5A86-4829-8491-599B41356034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5D5306-1E99-1D58-F498-E359D5278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16C6AB-9466-8E1D-7342-A355CC566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5BFDE-0E8D-4578-A896-E88A5A1148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6633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929C7-D135-44BE-8FEF-7431CFABA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B59B3-4C31-3DA0-75BB-E588CE4EEF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F119E6-6637-8CB9-9F7F-5CD3F00534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6B06E8-1D80-D963-EEC2-8B5DD1364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0163D-5A86-4829-8491-599B41356034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322E47-39D0-3402-1DD7-C2CA04EC2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331545-3D53-1D69-49A1-B0241FAC0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5BFDE-0E8D-4578-A896-E88A5A1148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361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8D62F-D1A6-9494-92E4-030FCF55C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55C71A-D428-8018-CE42-2A3D615FFF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6AB7FB-C2EB-BB7E-4BDB-B5E05F99B9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12394C-6CB2-5956-39E4-8C267195A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0163D-5A86-4829-8491-599B41356034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3387D1-72F7-2C90-895C-40B4B5DE6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A8E0DC-1370-24D1-EF97-EB84634E4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5BFDE-0E8D-4578-A896-E88A5A1148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8071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A5129-7A6B-AA13-552D-A837487B9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96FAD2-BB4F-057B-79F5-F367A4757F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9B95F0-4427-7696-8AB3-370313EE6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0163D-5A86-4829-8491-599B41356034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EFCAE5-787A-8084-6920-AB1CD2623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DEBE5D-FB80-AE28-EAFF-0CD49BA77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5BFDE-0E8D-4578-A896-E88A5A1148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107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E26AC3-D9C6-8DFA-8E95-F859CB77E7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ED5ED3-A0D4-0526-D3DC-92FEA3CF52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2AC943-FDF1-17A7-1C58-56A6DBFB4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0163D-5A86-4829-8491-599B41356034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85AEC-F934-2713-DA68-29C8897BA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73B7B6-B83C-7037-D83D-CF4B201A1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5BFDE-0E8D-4578-A896-E88A5A1148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43039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0163D-5A86-4829-8491-599B41356034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5BFDE-0E8D-4578-A896-E88A5A1148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47447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90960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5813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C868A8-C46C-DF49-C86C-4E1605E7B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9AAFA3-7FFF-3F23-E66E-DBEEEC22CE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7F93A-F57B-D8A0-0D08-27C2818F02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90163D-5A86-4829-8491-599B41356034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B33983-7272-2493-40AC-62A5806E3E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D77134-1BBD-A987-0EB2-A220F2B9C0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35BFDE-0E8D-4578-A896-E88A5A1148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3510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6" r:id="rId1"/>
    <p:sldLayoutId id="2147483767" r:id="rId2"/>
    <p:sldLayoutId id="2147483768" r:id="rId3"/>
    <p:sldLayoutId id="2147483769" r:id="rId4"/>
    <p:sldLayoutId id="2147483770" r:id="rId5"/>
    <p:sldLayoutId id="2147483771" r:id="rId6"/>
    <p:sldLayoutId id="2147483772" r:id="rId7"/>
    <p:sldLayoutId id="2147483773" r:id="rId8"/>
    <p:sldLayoutId id="2147483774" r:id="rId9"/>
    <p:sldLayoutId id="2147483775" r:id="rId10"/>
    <p:sldLayoutId id="2147483776" r:id="rId11"/>
    <p:sldLayoutId id="2147483777" r:id="rId12"/>
    <p:sldLayoutId id="2147483778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2991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</p:sldLayoutIdLst>
  <p:hf sldNum="0" hdr="0" ftr="0" dt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100000">
              <a:schemeClr val="accent5">
                <a:lumMod val="60000"/>
                <a:lumOff val="4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CFE42-E196-6D78-3300-F42355EB4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4821" y="2103437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IN" sz="10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lgerian" panose="04020705040A02060702" pitchFamily="82" charset="0"/>
              </a:rPr>
              <a:t>QUADCOPTER  DRONE</a:t>
            </a:r>
            <a:endParaRPr lang="en-IN" sz="10000" b="1" dirty="0"/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55FADB19-D178-2988-7047-C922414516D9}"/>
              </a:ext>
            </a:extLst>
          </p:cNvPr>
          <p:cNvSpPr/>
          <p:nvPr/>
        </p:nvSpPr>
        <p:spPr>
          <a:xfrm>
            <a:off x="1981200" y="508173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DRONE  =  Dynamic · Remotely · Operated · Navigated · Equipment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DB240E3-DC7A-26A8-8741-AECD152832DC}"/>
              </a:ext>
            </a:extLst>
          </p:cNvPr>
          <p:cNvCxnSpPr>
            <a:cxnSpLocks/>
          </p:cNvCxnSpPr>
          <p:nvPr/>
        </p:nvCxnSpPr>
        <p:spPr>
          <a:xfrm>
            <a:off x="2566737" y="4712770"/>
            <a:ext cx="705852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0384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tint val="90000"/>
                <a:lumMod val="110000"/>
              </a:schemeClr>
            </a:gs>
            <a:gs pos="100000">
              <a:schemeClr val="accent5">
                <a:lumMod val="60000"/>
                <a:lumOff val="4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09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0944"/>
            <a:ext cx="12192000" cy="6705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7680" y="420034"/>
            <a:ext cx="1121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733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FLIGHT PHYSICS</a:t>
            </a:r>
            <a:endParaRPr lang="en-US" sz="3733" dirty="0"/>
          </a:p>
        </p:txBody>
      </p:sp>
      <p:sp>
        <p:nvSpPr>
          <p:cNvPr id="6" name="Text 4"/>
          <p:cNvSpPr/>
          <p:nvPr/>
        </p:nvSpPr>
        <p:spPr>
          <a:xfrm>
            <a:off x="487680" y="1341120"/>
            <a:ext cx="54864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000000"/>
                </a:solidFill>
              </a:rPr>
              <a:t>THE FOUR FORCES</a:t>
            </a:r>
            <a:endParaRPr lang="en-US" sz="1733" dirty="0"/>
          </a:p>
        </p:txBody>
      </p:sp>
      <p:sp>
        <p:nvSpPr>
          <p:cNvPr id="7" name="Shape 5"/>
          <p:cNvSpPr/>
          <p:nvPr/>
        </p:nvSpPr>
        <p:spPr>
          <a:xfrm>
            <a:off x="487680" y="1840992"/>
            <a:ext cx="0" cy="54864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0560" y="1828800"/>
            <a:ext cx="195072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000000"/>
                </a:solidFill>
              </a:rPr>
              <a:t>Lift (L)</a:t>
            </a:r>
            <a:endParaRPr lang="en-US" sz="1467" dirty="0"/>
          </a:p>
        </p:txBody>
      </p:sp>
      <p:sp>
        <p:nvSpPr>
          <p:cNvPr id="9" name="Text 7"/>
          <p:cNvSpPr/>
          <p:nvPr/>
        </p:nvSpPr>
        <p:spPr>
          <a:xfrm>
            <a:off x="670560" y="2097024"/>
            <a:ext cx="512064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666666"/>
                </a:solidFill>
              </a:rPr>
              <a:t>Generated by rotor rotation — acts upward, counters gravity.</a:t>
            </a:r>
            <a:endParaRPr lang="en-US" sz="1333" dirty="0"/>
          </a:p>
        </p:txBody>
      </p:sp>
      <p:sp>
        <p:nvSpPr>
          <p:cNvPr id="10" name="Shape 8"/>
          <p:cNvSpPr/>
          <p:nvPr/>
        </p:nvSpPr>
        <p:spPr>
          <a:xfrm>
            <a:off x="487680" y="2633472"/>
            <a:ext cx="0" cy="54864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0560" y="2621280"/>
            <a:ext cx="195072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000000"/>
                </a:solidFill>
              </a:rPr>
              <a:t>Weight (W)</a:t>
            </a:r>
            <a:endParaRPr lang="en-US" sz="1467" dirty="0"/>
          </a:p>
        </p:txBody>
      </p:sp>
      <p:sp>
        <p:nvSpPr>
          <p:cNvPr id="12" name="Text 10"/>
          <p:cNvSpPr/>
          <p:nvPr/>
        </p:nvSpPr>
        <p:spPr>
          <a:xfrm>
            <a:off x="670560" y="2889504"/>
            <a:ext cx="512064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666666"/>
                </a:solidFill>
              </a:rPr>
              <a:t>Gravitational pull — acts downward through centre of mass.</a:t>
            </a:r>
            <a:endParaRPr lang="en-US" sz="1333" dirty="0"/>
          </a:p>
        </p:txBody>
      </p:sp>
      <p:sp>
        <p:nvSpPr>
          <p:cNvPr id="13" name="Shape 11"/>
          <p:cNvSpPr/>
          <p:nvPr/>
        </p:nvSpPr>
        <p:spPr>
          <a:xfrm>
            <a:off x="487680" y="3425952"/>
            <a:ext cx="0" cy="54864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0560" y="3413760"/>
            <a:ext cx="195072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000000"/>
                </a:solidFill>
              </a:rPr>
              <a:t>Thrust (T)</a:t>
            </a:r>
            <a:endParaRPr lang="en-US" sz="1467" dirty="0"/>
          </a:p>
        </p:txBody>
      </p:sp>
      <p:sp>
        <p:nvSpPr>
          <p:cNvPr id="15" name="Text 13"/>
          <p:cNvSpPr/>
          <p:nvPr/>
        </p:nvSpPr>
        <p:spPr>
          <a:xfrm>
            <a:off x="670560" y="3681984"/>
            <a:ext cx="512064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666666"/>
                </a:solidFill>
              </a:rPr>
              <a:t>Forward/directional propulsion from motor &amp; propeller.</a:t>
            </a:r>
            <a:endParaRPr lang="en-US" sz="1333" dirty="0"/>
          </a:p>
        </p:txBody>
      </p:sp>
      <p:sp>
        <p:nvSpPr>
          <p:cNvPr id="16" name="Shape 14"/>
          <p:cNvSpPr/>
          <p:nvPr/>
        </p:nvSpPr>
        <p:spPr>
          <a:xfrm>
            <a:off x="487680" y="4218432"/>
            <a:ext cx="0" cy="54864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0560" y="4206240"/>
            <a:ext cx="195072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000000"/>
                </a:solidFill>
              </a:rPr>
              <a:t>Drag (D)</a:t>
            </a:r>
            <a:endParaRPr lang="en-US" sz="1467" dirty="0"/>
          </a:p>
        </p:txBody>
      </p:sp>
      <p:sp>
        <p:nvSpPr>
          <p:cNvPr id="18" name="Text 16"/>
          <p:cNvSpPr/>
          <p:nvPr/>
        </p:nvSpPr>
        <p:spPr>
          <a:xfrm>
            <a:off x="670560" y="4474464"/>
            <a:ext cx="512064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666666"/>
                </a:solidFill>
              </a:rPr>
              <a:t>Air resistance — opposes the direction of motion.</a:t>
            </a:r>
            <a:endParaRPr lang="en-US" sz="1333" dirty="0"/>
          </a:p>
        </p:txBody>
      </p:sp>
      <p:sp>
        <p:nvSpPr>
          <p:cNvPr id="19" name="Text 17"/>
          <p:cNvSpPr/>
          <p:nvPr/>
        </p:nvSpPr>
        <p:spPr>
          <a:xfrm>
            <a:off x="487680" y="5059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000000"/>
                </a:solidFill>
              </a:rPr>
              <a:t>FLIGHT CONDITIONS</a:t>
            </a:r>
            <a:endParaRPr lang="en-US" sz="1733" dirty="0"/>
          </a:p>
        </p:txBody>
      </p:sp>
      <p:sp>
        <p:nvSpPr>
          <p:cNvPr id="20" name="Text 18"/>
          <p:cNvSpPr/>
          <p:nvPr/>
        </p:nvSpPr>
        <p:spPr>
          <a:xfrm>
            <a:off x="670560" y="5486400"/>
            <a:ext cx="512064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 &gt; L  →  Drone descends / falls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70560" y="5852160"/>
            <a:ext cx="512064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 &lt; L  →  Drone rises / climbs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70560" y="6217920"/>
            <a:ext cx="512064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 = L  →  Drone hovers in place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339840" y="1219200"/>
            <a:ext cx="0" cy="5364480"/>
          </a:xfrm>
          <a:prstGeom prst="line">
            <a:avLst/>
          </a:prstGeom>
          <a:noFill/>
          <a:ln w="10160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22720" y="1052445"/>
            <a:ext cx="52425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000000"/>
                </a:solidFill>
              </a:rPr>
              <a:t>KEY EQUATIONS</a:t>
            </a:r>
            <a:endParaRPr lang="en-US" sz="1733" dirty="0"/>
          </a:p>
        </p:txBody>
      </p:sp>
      <p:sp>
        <p:nvSpPr>
          <p:cNvPr id="26" name="Text 24"/>
          <p:cNvSpPr/>
          <p:nvPr/>
        </p:nvSpPr>
        <p:spPr>
          <a:xfrm>
            <a:off x="9265920" y="1689323"/>
            <a:ext cx="487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>
                <a:solidFill>
                  <a:srgbClr val="666666"/>
                </a:solidFill>
              </a:rPr>
              <a:t>(Takeoff Condition)</a:t>
            </a:r>
            <a:endParaRPr lang="en-US" sz="1267" dirty="0"/>
          </a:p>
        </p:txBody>
      </p:sp>
      <p:sp>
        <p:nvSpPr>
          <p:cNvPr id="27" name="Text 25"/>
          <p:cNvSpPr/>
          <p:nvPr/>
        </p:nvSpPr>
        <p:spPr>
          <a:xfrm>
            <a:off x="6522720" y="1670304"/>
            <a:ext cx="487680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= W · cosθ</a:t>
            </a:r>
            <a:endParaRPr lang="en-US" sz="1733" dirty="0"/>
          </a:p>
        </p:txBody>
      </p:sp>
      <p:sp>
        <p:nvSpPr>
          <p:cNvPr id="29" name="Text 27"/>
          <p:cNvSpPr/>
          <p:nvPr/>
        </p:nvSpPr>
        <p:spPr>
          <a:xfrm>
            <a:off x="9323261" y="2113880"/>
            <a:ext cx="487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>
                <a:solidFill>
                  <a:srgbClr val="666666"/>
                </a:solidFill>
              </a:rPr>
              <a:t>(Thrust Equation)</a:t>
            </a:r>
            <a:endParaRPr lang="en-US" sz="1267" dirty="0"/>
          </a:p>
        </p:txBody>
      </p:sp>
      <p:sp>
        <p:nvSpPr>
          <p:cNvPr id="30" name="Text 28"/>
          <p:cNvSpPr/>
          <p:nvPr/>
        </p:nvSpPr>
        <p:spPr>
          <a:xfrm>
            <a:off x="6522720" y="2145399"/>
            <a:ext cx="487680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= D + W · sinθ</a:t>
            </a:r>
            <a:endParaRPr lang="en-US" sz="1733" dirty="0"/>
          </a:p>
        </p:txBody>
      </p:sp>
      <p:sp>
        <p:nvSpPr>
          <p:cNvPr id="32" name="Text 30"/>
          <p:cNvSpPr/>
          <p:nvPr/>
        </p:nvSpPr>
        <p:spPr>
          <a:xfrm>
            <a:off x="9323261" y="2567793"/>
            <a:ext cx="487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>
                <a:solidFill>
                  <a:srgbClr val="666666"/>
                </a:solidFill>
              </a:rPr>
              <a:t>(Power Equation)</a:t>
            </a:r>
            <a:endParaRPr lang="en-US" sz="1267" dirty="0"/>
          </a:p>
        </p:txBody>
      </p:sp>
      <p:sp>
        <p:nvSpPr>
          <p:cNvPr id="33" name="Text 31"/>
          <p:cNvSpPr/>
          <p:nvPr/>
        </p:nvSpPr>
        <p:spPr>
          <a:xfrm>
            <a:off x="6522720" y="2559927"/>
            <a:ext cx="487680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T·v = D·v + v·W·sinθ</a:t>
            </a:r>
            <a:endParaRPr lang="en-US" sz="1733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C5851957-5B8B-B400-63FC-D2D0A0EEFD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1" y="3342126"/>
            <a:ext cx="3461544" cy="252773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tint val="90000"/>
                <a:lumMod val="110000"/>
              </a:schemeClr>
            </a:gs>
            <a:gs pos="100000">
              <a:schemeClr val="accent5">
                <a:lumMod val="60000"/>
                <a:lumOff val="4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09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0944"/>
            <a:ext cx="12192000" cy="6705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7680" y="347472"/>
            <a:ext cx="1121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733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DRONE TYPES &amp; FRAMES</a:t>
            </a:r>
            <a:endParaRPr lang="en-US" sz="3733" dirty="0"/>
          </a:p>
        </p:txBody>
      </p:sp>
      <p:sp>
        <p:nvSpPr>
          <p:cNvPr id="6" name="Text 4"/>
          <p:cNvSpPr/>
          <p:nvPr/>
        </p:nvSpPr>
        <p:spPr>
          <a:xfrm>
            <a:off x="487680" y="1104556"/>
            <a:ext cx="524256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000000"/>
                </a:solidFill>
              </a:rPr>
              <a:t>MULTIROTOR TYPES</a:t>
            </a:r>
            <a:endParaRPr lang="en-US" sz="1733" dirty="0"/>
          </a:p>
        </p:txBody>
      </p:sp>
      <p:sp>
        <p:nvSpPr>
          <p:cNvPr id="20" name="Shape 18"/>
          <p:cNvSpPr/>
          <p:nvPr/>
        </p:nvSpPr>
        <p:spPr>
          <a:xfrm>
            <a:off x="6217920" y="1219200"/>
            <a:ext cx="0" cy="5364480"/>
          </a:xfrm>
          <a:prstGeom prst="line">
            <a:avLst/>
          </a:prstGeom>
          <a:noFill/>
          <a:ln w="1016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61760" y="1075944"/>
            <a:ext cx="524256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000000"/>
                </a:solidFill>
              </a:rPr>
              <a:t>FRAME TYPES</a:t>
            </a:r>
            <a:endParaRPr lang="en-US" sz="1733" dirty="0"/>
          </a:p>
        </p:txBody>
      </p:sp>
      <p:sp>
        <p:nvSpPr>
          <p:cNvPr id="22" name="Shape 20"/>
          <p:cNvSpPr/>
          <p:nvPr/>
        </p:nvSpPr>
        <p:spPr>
          <a:xfrm>
            <a:off x="6461760" y="1621536"/>
            <a:ext cx="0" cy="60960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44640" y="1542288"/>
            <a:ext cx="463296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rgbClr val="000000"/>
                </a:solidFill>
              </a:rPr>
              <a:t>X-Frame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644640" y="1830324"/>
            <a:ext cx="46329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>
                <a:solidFill>
                  <a:srgbClr val="666666"/>
                </a:solidFill>
              </a:rPr>
              <a:t>Standard layout. Arms diagonal. Agile &amp; manouverable. Most common for racing &amp; freestyle.</a:t>
            </a:r>
            <a:endParaRPr lang="en-US" sz="1267" dirty="0"/>
          </a:p>
        </p:txBody>
      </p:sp>
      <p:sp>
        <p:nvSpPr>
          <p:cNvPr id="25" name="Shape 23"/>
          <p:cNvSpPr/>
          <p:nvPr/>
        </p:nvSpPr>
        <p:spPr>
          <a:xfrm>
            <a:off x="6451600" y="2507488"/>
            <a:ext cx="0" cy="60960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44640" y="2454656"/>
            <a:ext cx="463296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rgbClr val="000000"/>
                </a:solidFill>
              </a:rPr>
              <a:t>H-Frame</a:t>
            </a: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644640" y="2731008"/>
            <a:ext cx="46329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>
                <a:solidFill>
                  <a:srgbClr val="666666"/>
                </a:solidFill>
              </a:rPr>
              <a:t>Arms parallel. Camera mount in front. Better for photography — stable hover.</a:t>
            </a:r>
            <a:endParaRPr lang="en-US" sz="1267" dirty="0"/>
          </a:p>
        </p:txBody>
      </p:sp>
      <p:sp>
        <p:nvSpPr>
          <p:cNvPr id="28" name="Shape 26"/>
          <p:cNvSpPr/>
          <p:nvPr/>
        </p:nvSpPr>
        <p:spPr>
          <a:xfrm>
            <a:off x="6461760" y="3511296"/>
            <a:ext cx="0" cy="60960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44640" y="3432048"/>
            <a:ext cx="463296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rgbClr val="000000"/>
                </a:solidFill>
              </a:rPr>
              <a:t>Plastic Frame</a:t>
            </a: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644640" y="3703320"/>
            <a:ext cx="46329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>
                <a:solidFill>
                  <a:srgbClr val="666666"/>
                </a:solidFill>
              </a:rPr>
              <a:t>Cheap, easy to replace. Unstable under vibration. Good for beginners.</a:t>
            </a:r>
            <a:endParaRPr lang="en-US" sz="1267" dirty="0"/>
          </a:p>
        </p:txBody>
      </p:sp>
      <p:sp>
        <p:nvSpPr>
          <p:cNvPr id="31" name="Shape 29"/>
          <p:cNvSpPr/>
          <p:nvPr/>
        </p:nvSpPr>
        <p:spPr>
          <a:xfrm>
            <a:off x="6461760" y="4486656"/>
            <a:ext cx="0" cy="60960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44640" y="4462272"/>
            <a:ext cx="463296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rgbClr val="000000"/>
                </a:solidFill>
              </a:rPr>
              <a:t>Carbon Fiber (zig-zag)</a:t>
            </a: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644640" y="4767072"/>
            <a:ext cx="46329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>
                <a:solidFill>
                  <a:srgbClr val="666666"/>
                </a:solidFill>
              </a:rPr>
              <a:t>Lighter &amp; stronger. Reduces vibration significantly. Used in commercial/professional builds.</a:t>
            </a:r>
            <a:endParaRPr lang="en-US" sz="1267" dirty="0"/>
          </a:p>
        </p:txBody>
      </p:sp>
      <p:sp>
        <p:nvSpPr>
          <p:cNvPr id="34" name="Shape 32"/>
          <p:cNvSpPr/>
          <p:nvPr/>
        </p:nvSpPr>
        <p:spPr>
          <a:xfrm>
            <a:off x="6461760" y="5364480"/>
            <a:ext cx="0" cy="60960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44640" y="5340096"/>
            <a:ext cx="463296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rgbClr val="000000"/>
                </a:solidFill>
              </a:rPr>
              <a:t>Balsa Wood</a:t>
            </a: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644640" y="5644896"/>
            <a:ext cx="46329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>
                <a:solidFill>
                  <a:srgbClr val="666666"/>
                </a:solidFill>
              </a:rPr>
              <a:t>Low cost, high endurance. Absorbs vibration. Good for long-flight applications.</a:t>
            </a:r>
            <a:endParaRPr lang="en-US" sz="1267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A019B47-DAF5-1D1F-807D-3DE005C50DC1}"/>
              </a:ext>
            </a:extLst>
          </p:cNvPr>
          <p:cNvSpPr txBox="1"/>
          <p:nvPr/>
        </p:nvSpPr>
        <p:spPr>
          <a:xfrm>
            <a:off x="410995" y="1621536"/>
            <a:ext cx="538020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1. SINGLE COPTER</a:t>
            </a:r>
            <a:br>
              <a:rPr lang="en-IN" sz="2000" dirty="0"/>
            </a:br>
            <a:r>
              <a:rPr lang="en-IN" sz="2000" dirty="0"/>
              <a:t>   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 main rotor + tail rotor</a:t>
            </a:r>
            <a:b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br>
              <a:rPr lang="en-IN" sz="2000" dirty="0"/>
            </a:br>
            <a:r>
              <a:rPr lang="en-IN" sz="2000" b="1" dirty="0"/>
              <a:t>2. TRI-COPTER</a:t>
            </a:r>
            <a:br>
              <a:rPr lang="en-IN" sz="2000" dirty="0"/>
            </a:br>
            <a:r>
              <a:rPr lang="en-IN" sz="2000" dirty="0"/>
              <a:t>   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3 rotors — less stable</a:t>
            </a:r>
            <a:b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br>
              <a:rPr lang="en-IN" sz="2000" dirty="0"/>
            </a:br>
            <a:r>
              <a:rPr lang="en-IN" sz="2000" b="1" dirty="0"/>
              <a:t>3. QUADCOPTER</a:t>
            </a:r>
            <a:br>
              <a:rPr lang="en-IN" sz="2000" dirty="0"/>
            </a:br>
            <a:r>
              <a:rPr lang="en-IN" sz="2000" dirty="0"/>
              <a:t>   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4 rotors — most common for DIY builds</a:t>
            </a:r>
            <a:b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br>
              <a:rPr lang="en-IN" sz="2000" dirty="0"/>
            </a:br>
            <a:r>
              <a:rPr lang="en-IN" sz="2000" b="1" dirty="0"/>
              <a:t>4. HEXACOPTER</a:t>
            </a:r>
            <a:br>
              <a:rPr lang="en-IN" sz="2000" dirty="0"/>
            </a:br>
            <a:r>
              <a:rPr lang="en-IN" sz="2000" dirty="0"/>
              <a:t>   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6 rotors — heavier payload</a:t>
            </a:r>
            <a:b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br>
              <a:rPr lang="en-IN" sz="2000" dirty="0"/>
            </a:br>
            <a:r>
              <a:rPr lang="en-IN" sz="2000" b="1" dirty="0"/>
              <a:t>5. OCTACOPTER</a:t>
            </a:r>
          </a:p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8 rotors — professional / cinematography</a:t>
            </a: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tint val="90000"/>
                <a:lumMod val="110000"/>
              </a:schemeClr>
            </a:gs>
            <a:gs pos="100000">
              <a:schemeClr val="accent5">
                <a:lumMod val="60000"/>
                <a:lumOff val="4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09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0944"/>
            <a:ext cx="12192000" cy="6705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7680" y="329184"/>
            <a:ext cx="1121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733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COMPONENTS</a:t>
            </a:r>
            <a:endParaRPr lang="en-US" sz="3733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5608320" cy="853440"/>
          </a:xfrm>
          <a:prstGeom prst="rect">
            <a:avLst/>
          </a:prstGeom>
          <a:solidFill>
            <a:srgbClr val="FAFA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80160"/>
            <a:ext cx="512064" cy="8534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7952" y="1280160"/>
            <a:ext cx="512064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75360" y="1353312"/>
            <a:ext cx="475488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000000"/>
                </a:solidFill>
              </a:rPr>
              <a:t>Frame</a:t>
            </a:r>
            <a:endParaRPr lang="en-US" sz="1467" dirty="0"/>
          </a:p>
        </p:txBody>
      </p:sp>
      <p:sp>
        <p:nvSpPr>
          <p:cNvPr id="10" name="Text 8"/>
          <p:cNvSpPr/>
          <p:nvPr/>
        </p:nvSpPr>
        <p:spPr>
          <a:xfrm>
            <a:off x="975360" y="1706880"/>
            <a:ext cx="475488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666666"/>
                </a:solidFill>
              </a:rPr>
              <a:t>Plastic / Carbon Fiber / Balsa Wood — X or H configuration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279904"/>
            <a:ext cx="5608320" cy="853440"/>
          </a:xfrm>
          <a:prstGeom prst="rect">
            <a:avLst/>
          </a:prstGeom>
          <a:solidFill>
            <a:srgbClr val="FAFA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279904"/>
            <a:ext cx="512064" cy="8534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7952" y="2279904"/>
            <a:ext cx="512064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75360" y="2353056"/>
            <a:ext cx="475488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000000"/>
                </a:solidFill>
              </a:rPr>
              <a:t>Flight Controller</a:t>
            </a:r>
            <a:endParaRPr lang="en-US" sz="1467" dirty="0"/>
          </a:p>
        </p:txBody>
      </p:sp>
      <p:sp>
        <p:nvSpPr>
          <p:cNvPr id="15" name="Text 13"/>
          <p:cNvSpPr/>
          <p:nvPr/>
        </p:nvSpPr>
        <p:spPr>
          <a:xfrm>
            <a:off x="975360" y="2706624"/>
            <a:ext cx="475488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666666"/>
                </a:solidFill>
              </a:rPr>
              <a:t>K215 (Non-feedback)  or  Pixor — mounted at centre only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279648"/>
            <a:ext cx="5608320" cy="853440"/>
          </a:xfrm>
          <a:prstGeom prst="rect">
            <a:avLst/>
          </a:prstGeom>
          <a:solidFill>
            <a:srgbClr val="FAFA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279648"/>
            <a:ext cx="512064" cy="8534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7952" y="3279648"/>
            <a:ext cx="512064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75360" y="3352800"/>
            <a:ext cx="475488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000000"/>
                </a:solidFill>
              </a:rPr>
              <a:t>Transmitter &amp; Receiver</a:t>
            </a:r>
            <a:endParaRPr lang="en-US" sz="1467" dirty="0"/>
          </a:p>
        </p:txBody>
      </p:sp>
      <p:sp>
        <p:nvSpPr>
          <p:cNvPr id="20" name="Text 18"/>
          <p:cNvSpPr/>
          <p:nvPr/>
        </p:nvSpPr>
        <p:spPr>
          <a:xfrm>
            <a:off x="975360" y="3706368"/>
            <a:ext cx="475488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666666"/>
                </a:solidFill>
              </a:rPr>
              <a:t>2.4 GHz — pilot TX encodes input, RX decodes PWM signal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4279392"/>
            <a:ext cx="5608320" cy="853440"/>
          </a:xfrm>
          <a:prstGeom prst="rect">
            <a:avLst/>
          </a:prstGeom>
          <a:solidFill>
            <a:srgbClr val="FAFA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4279392"/>
            <a:ext cx="512064" cy="8534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7952" y="4279392"/>
            <a:ext cx="512064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75360" y="4352544"/>
            <a:ext cx="475488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000000"/>
                </a:solidFill>
              </a:rPr>
              <a:t>Battery</a:t>
            </a:r>
            <a:endParaRPr lang="en-US" sz="1467" dirty="0"/>
          </a:p>
        </p:txBody>
      </p:sp>
      <p:sp>
        <p:nvSpPr>
          <p:cNvPr id="25" name="Text 23"/>
          <p:cNvSpPr/>
          <p:nvPr/>
        </p:nvSpPr>
        <p:spPr>
          <a:xfrm>
            <a:off x="975360" y="4706112"/>
            <a:ext cx="475488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666666"/>
                </a:solidFill>
              </a:rPr>
              <a:t>Lithium Polymer (LiPo) or Li-ion — 2200mAh = 2.2A (4S)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5279136"/>
            <a:ext cx="5608320" cy="853440"/>
          </a:xfrm>
          <a:prstGeom prst="rect">
            <a:avLst/>
          </a:prstGeom>
          <a:solidFill>
            <a:srgbClr val="FAFA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5279136"/>
            <a:ext cx="512064" cy="8534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7952" y="5279136"/>
            <a:ext cx="512064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75360" y="5352288"/>
            <a:ext cx="475488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000000"/>
                </a:solidFill>
              </a:rPr>
              <a:t>BLDC Motors ×4</a:t>
            </a:r>
            <a:endParaRPr lang="en-US" sz="1467" dirty="0"/>
          </a:p>
        </p:txBody>
      </p:sp>
      <p:sp>
        <p:nvSpPr>
          <p:cNvPr id="30" name="Text 28"/>
          <p:cNvSpPr/>
          <p:nvPr/>
        </p:nvSpPr>
        <p:spPr>
          <a:xfrm>
            <a:off x="975360" y="5705856"/>
            <a:ext cx="475488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666666"/>
                </a:solidFill>
              </a:rPr>
              <a:t>Brushless DC — 3-wire — CW ×2 and CCW ×2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61760" y="1280160"/>
            <a:ext cx="5608320" cy="853440"/>
          </a:xfrm>
          <a:prstGeom prst="rect">
            <a:avLst/>
          </a:prstGeom>
          <a:solidFill>
            <a:srgbClr val="FAFA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61760" y="1280160"/>
            <a:ext cx="512064" cy="8534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73952" y="1280160"/>
            <a:ext cx="512064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06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071360" y="1353312"/>
            <a:ext cx="475488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000000"/>
                </a:solidFill>
              </a:rPr>
              <a:t>ESC ×4</a:t>
            </a:r>
            <a:endParaRPr lang="en-US" sz="1467" dirty="0"/>
          </a:p>
        </p:txBody>
      </p:sp>
      <p:sp>
        <p:nvSpPr>
          <p:cNvPr id="35" name="Text 33"/>
          <p:cNvSpPr/>
          <p:nvPr/>
        </p:nvSpPr>
        <p:spPr>
          <a:xfrm>
            <a:off x="7071360" y="1706880"/>
            <a:ext cx="475488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666666"/>
                </a:solidFill>
              </a:rPr>
              <a:t>Electronic Speed Controller — converts FC signal to motor speed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461760" y="2279904"/>
            <a:ext cx="5608320" cy="853440"/>
          </a:xfrm>
          <a:prstGeom prst="rect">
            <a:avLst/>
          </a:prstGeom>
          <a:solidFill>
            <a:srgbClr val="FAFA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61760" y="2279904"/>
            <a:ext cx="512064" cy="8534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73952" y="2279904"/>
            <a:ext cx="512064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07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071360" y="2353056"/>
            <a:ext cx="475488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000000"/>
                </a:solidFill>
              </a:rPr>
              <a:t>Power Dist. Board</a:t>
            </a:r>
            <a:endParaRPr lang="en-US" sz="1467" dirty="0"/>
          </a:p>
        </p:txBody>
      </p:sp>
      <p:sp>
        <p:nvSpPr>
          <p:cNvPr id="40" name="Text 38"/>
          <p:cNvSpPr/>
          <p:nvPr/>
        </p:nvSpPr>
        <p:spPr>
          <a:xfrm>
            <a:off x="7071360" y="2706624"/>
            <a:ext cx="475488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666666"/>
                </a:solidFill>
              </a:rPr>
              <a:t>PDB — splits battery power to ESC and Flight Controller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461760" y="3279648"/>
            <a:ext cx="5608320" cy="853440"/>
          </a:xfrm>
          <a:prstGeom prst="rect">
            <a:avLst/>
          </a:prstGeom>
          <a:solidFill>
            <a:srgbClr val="FAFA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61760" y="3279648"/>
            <a:ext cx="512064" cy="8534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73952" y="3279648"/>
            <a:ext cx="512064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08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071360" y="3352800"/>
            <a:ext cx="475488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000000"/>
                </a:solidFill>
              </a:rPr>
              <a:t>Propellers</a:t>
            </a:r>
            <a:endParaRPr lang="en-US" sz="1467" dirty="0"/>
          </a:p>
        </p:txBody>
      </p:sp>
      <p:sp>
        <p:nvSpPr>
          <p:cNvPr id="45" name="Text 43"/>
          <p:cNvSpPr/>
          <p:nvPr/>
        </p:nvSpPr>
        <p:spPr>
          <a:xfrm>
            <a:off x="7071360" y="3706368"/>
            <a:ext cx="475488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666666"/>
                </a:solidFill>
              </a:rPr>
              <a:t>Matched CW+CCW pairs — attach directly to motor shaft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461760" y="4279392"/>
            <a:ext cx="5608320" cy="853440"/>
          </a:xfrm>
          <a:prstGeom prst="rect">
            <a:avLst/>
          </a:prstGeom>
          <a:solidFill>
            <a:srgbClr val="FAFA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61760" y="4279392"/>
            <a:ext cx="512064" cy="8534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73952" y="4279392"/>
            <a:ext cx="512064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09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7071360" y="4352544"/>
            <a:ext cx="475488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000000"/>
                </a:solidFill>
              </a:rPr>
              <a:t>GPS Module</a:t>
            </a:r>
            <a:endParaRPr lang="en-US" sz="1467" dirty="0"/>
          </a:p>
        </p:txBody>
      </p:sp>
      <p:sp>
        <p:nvSpPr>
          <p:cNvPr id="50" name="Text 48"/>
          <p:cNvSpPr/>
          <p:nvPr/>
        </p:nvSpPr>
        <p:spPr>
          <a:xfrm>
            <a:off x="7071360" y="4706112"/>
            <a:ext cx="475488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666666"/>
                </a:solidFill>
              </a:rPr>
              <a:t>Navigation, Guidance &amp; Control — position hold, RTH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tint val="90000"/>
                <a:lumMod val="110000"/>
              </a:schemeClr>
            </a:gs>
            <a:gs pos="100000">
              <a:schemeClr val="accent5">
                <a:lumMod val="60000"/>
                <a:lumOff val="4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09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0944"/>
            <a:ext cx="12192000" cy="6705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7680" y="182880"/>
            <a:ext cx="1121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3733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MOTOR CONFIGURATION</a:t>
            </a:r>
            <a:endParaRPr lang="en-US" sz="3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487680" y="1341120"/>
            <a:ext cx="548640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733" b="1" dirty="0">
                <a:solidFill>
                  <a:srgbClr val="000000"/>
                </a:solidFill>
                <a:latin typeface="Calibri" panose="020F0502020204030204"/>
              </a:rPr>
              <a:t>WHY ALTERNATING DIRECTIONS?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487680" y="1828800"/>
            <a:ext cx="5486400" cy="1706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>
              <a:lnSpc>
                <a:spcPct val="140000"/>
              </a:lnSpc>
            </a:pPr>
            <a:r>
              <a:rPr lang="en-US" sz="1400" dirty="0">
                <a:solidFill>
                  <a:srgbClr val="666666"/>
                </a:solidFill>
                <a:latin typeface="Calibri" panose="020F0502020204030204"/>
              </a:rPr>
              <a:t>In a quadcopter, two motors spin Clockwise (CW) and two spin Counter-Clockwise (CCW). Diagonal pairs share the same direction.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>
              <a:lnSpc>
                <a:spcPct val="140000"/>
              </a:lnSpc>
            </a:pP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>
              <a:lnSpc>
                <a:spcPct val="140000"/>
              </a:lnSpc>
            </a:pPr>
            <a:r>
              <a:rPr lang="en-US" sz="1400" dirty="0">
                <a:solidFill>
                  <a:srgbClr val="666666"/>
                </a:solidFill>
                <a:latin typeface="Calibri" panose="020F0502020204030204"/>
              </a:rPr>
              <a:t>This cancels out the rotational torque reaction — without this balance, the drone would continuously spin on its yaw axis.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487680" y="3718560"/>
            <a:ext cx="548640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733" b="1" dirty="0">
                <a:solidFill>
                  <a:srgbClr val="000000"/>
                </a:solidFill>
                <a:latin typeface="Calibri" panose="020F0502020204030204"/>
              </a:rPr>
              <a:t>MOTOR POSITIONS (X-FRAME)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487680" y="4206240"/>
            <a:ext cx="31699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dirty="0">
                <a:solidFill>
                  <a:srgbClr val="000000"/>
                </a:solidFill>
                <a:latin typeface="Calibri" panose="020F0502020204030204"/>
              </a:rPr>
              <a:t>M1 — Front Right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779520" y="4206240"/>
            <a:ext cx="21945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CW   (Clockwise)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7680" y="4730496"/>
            <a:ext cx="31699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dirty="0">
                <a:solidFill>
                  <a:srgbClr val="000000"/>
                </a:solidFill>
                <a:latin typeface="Calibri" panose="020F0502020204030204"/>
              </a:rPr>
              <a:t>M2 — Front Left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779520" y="4730496"/>
            <a:ext cx="21945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CCW  (Counter-Clockwise)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87680" y="5254752"/>
            <a:ext cx="31699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dirty="0">
                <a:solidFill>
                  <a:srgbClr val="000000"/>
                </a:solidFill>
                <a:latin typeface="Calibri" panose="020F0502020204030204"/>
              </a:rPr>
              <a:t>M3 — Rear Right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779520" y="5254752"/>
            <a:ext cx="21945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CCW  (Counter-Clockwise)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87680" y="5779008"/>
            <a:ext cx="31699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dirty="0">
                <a:solidFill>
                  <a:srgbClr val="000000"/>
                </a:solidFill>
                <a:latin typeface="Calibri" panose="020F0502020204030204"/>
              </a:rPr>
              <a:t>M4 — Rear Left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779520" y="5779008"/>
            <a:ext cx="21945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CW   (Clockwise)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339840" y="1219200"/>
            <a:ext cx="0" cy="5364480"/>
          </a:xfrm>
          <a:prstGeom prst="line">
            <a:avLst/>
          </a:prstGeom>
          <a:noFill/>
          <a:ln w="1016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1341120"/>
            <a:ext cx="512064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733" b="1" dirty="0">
                <a:solidFill>
                  <a:srgbClr val="000000"/>
                </a:solidFill>
                <a:latin typeface="Calibri" panose="020F0502020204030204"/>
              </a:rPr>
              <a:t>X-FRAME DIAGRAM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583680" y="1828800"/>
            <a:ext cx="5120640" cy="365760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0" y="2316480"/>
            <a:ext cx="2926080" cy="243840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7731105" y="2548128"/>
            <a:ext cx="2252570" cy="2211766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56320" y="3291840"/>
            <a:ext cx="85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200" b="1" dirty="0">
                <a:solidFill>
                  <a:srgbClr val="FFFFFF"/>
                </a:solidFill>
                <a:latin typeface="Calibri" panose="020F0502020204030204"/>
              </a:rPr>
              <a:t>FC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888480" y="1975104"/>
            <a:ext cx="792480" cy="7924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88480" y="1975104"/>
            <a:ext cx="79248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067" b="1" dirty="0">
                <a:solidFill>
                  <a:srgbClr val="000000"/>
                </a:solidFill>
                <a:latin typeface="Calibri" panose="020F0502020204030204"/>
              </a:rPr>
              <a:t>M1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888480" y="2389632"/>
            <a:ext cx="79248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000" dirty="0">
                <a:solidFill>
                  <a:srgbClr val="000000"/>
                </a:solidFill>
                <a:latin typeface="Calibri" panose="020F0502020204030204"/>
              </a:rPr>
              <a:t>CW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9936480" y="1975104"/>
            <a:ext cx="792480" cy="7924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936480" y="1975104"/>
            <a:ext cx="79248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067" b="1" dirty="0">
                <a:solidFill>
                  <a:srgbClr val="000000"/>
                </a:solidFill>
                <a:latin typeface="Calibri" panose="020F0502020204030204"/>
              </a:rPr>
              <a:t>M2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9936480" y="2389632"/>
            <a:ext cx="79248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000" dirty="0">
                <a:solidFill>
                  <a:srgbClr val="000000"/>
                </a:solidFill>
                <a:latin typeface="Calibri" panose="020F0502020204030204"/>
              </a:rPr>
              <a:t>CCW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979919" y="4607986"/>
            <a:ext cx="792480" cy="7924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38625" y="4657344"/>
            <a:ext cx="79248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067" b="1" dirty="0">
                <a:solidFill>
                  <a:srgbClr val="000000"/>
                </a:solidFill>
                <a:latin typeface="Calibri" panose="020F0502020204030204"/>
              </a:rPr>
              <a:t>M4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963205" y="5000784"/>
            <a:ext cx="79248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000" dirty="0">
                <a:solidFill>
                  <a:srgbClr val="000000"/>
                </a:solidFill>
                <a:latin typeface="Calibri" panose="020F0502020204030204"/>
              </a:rPr>
              <a:t>CW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9983675" y="4657344"/>
            <a:ext cx="792480" cy="7924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983675" y="4645152"/>
            <a:ext cx="79248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067" b="1" dirty="0">
                <a:solidFill>
                  <a:srgbClr val="000000"/>
                </a:solidFill>
                <a:latin typeface="Calibri" panose="020F0502020204030204"/>
              </a:rPr>
              <a:t>M3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9983675" y="5000784"/>
            <a:ext cx="79248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000" dirty="0">
                <a:solidFill>
                  <a:srgbClr val="000000"/>
                </a:solidFill>
                <a:latin typeface="Calibri" panose="020F0502020204030204"/>
              </a:rPr>
              <a:t>CCW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tint val="90000"/>
                <a:lumMod val="110000"/>
              </a:schemeClr>
            </a:gs>
            <a:gs pos="100000">
              <a:schemeClr val="accent5">
                <a:lumMod val="60000"/>
                <a:lumOff val="4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09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0944"/>
            <a:ext cx="12192000" cy="6705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7680" y="365760"/>
            <a:ext cx="11216640" cy="84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3733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WIRING GUIDE</a:t>
            </a:r>
            <a:endParaRPr lang="en-US" sz="3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CAACC6E-113E-441C-DF38-F9583357EDB6}"/>
              </a:ext>
            </a:extLst>
          </p:cNvPr>
          <p:cNvSpPr txBox="1"/>
          <p:nvPr/>
        </p:nvSpPr>
        <p:spPr>
          <a:xfrm>
            <a:off x="579120" y="1513840"/>
            <a:ext cx="5049517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1. Battery → Power Distribution Board (PDB)</a:t>
            </a:r>
          </a:p>
          <a:p>
            <a:r>
              <a:rPr lang="en-US" dirty="0"/>
              <a:t>Connect the LiPo battery to the PDB to supply power to the drone.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2. PDB → ESCs</a:t>
            </a:r>
          </a:p>
          <a:p>
            <a:r>
              <a:rPr lang="en-US" dirty="0"/>
              <a:t>Connect the four Electronic Speed Controllers (ESCs) to the PDB.</a:t>
            </a:r>
            <a:br>
              <a:rPr lang="en-US" dirty="0"/>
            </a:br>
            <a:r>
              <a:rPr lang="en-US" dirty="0"/>
              <a:t>The PDB distributes battery power to all ESCs.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3. ESCs → Motors</a:t>
            </a:r>
          </a:p>
          <a:p>
            <a:r>
              <a:rPr lang="en-US" dirty="0"/>
              <a:t>Each ESC connects to one brushless motor using three wires. 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4. ESCs → Flight Controller</a:t>
            </a:r>
          </a:p>
          <a:p>
            <a:r>
              <a:rPr lang="en-US" dirty="0"/>
              <a:t>Connect the signal wire from each ESC to the Flight Controller (FC).The flight controller sends speed commands to the motors.</a:t>
            </a:r>
          </a:p>
          <a:p>
            <a:endParaRPr lang="en-IN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2BE7B9-4F13-F699-0F4E-20E5ECA08F86}"/>
              </a:ext>
            </a:extLst>
          </p:cNvPr>
          <p:cNvSpPr txBox="1"/>
          <p:nvPr/>
        </p:nvSpPr>
        <p:spPr>
          <a:xfrm>
            <a:off x="6217920" y="1513840"/>
            <a:ext cx="496824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5. Receiver → Flight Controller</a:t>
            </a:r>
          </a:p>
          <a:p>
            <a:r>
              <a:rPr lang="en-US" dirty="0"/>
              <a:t>Connect the RC receiver to the Flight Controller.</a:t>
            </a:r>
            <a:br>
              <a:rPr lang="en-US" dirty="0"/>
            </a:br>
            <a:r>
              <a:rPr lang="en-US" dirty="0"/>
              <a:t>This allows the pilot to control the drone using the transmitter.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6. GPS → Flight Controller (Optional)</a:t>
            </a:r>
          </a:p>
          <a:p>
            <a:r>
              <a:rPr lang="en-US" dirty="0"/>
              <a:t>Connect the GPS module to the Flight Controller for features like: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Position hold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Navigation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Return-to-Home (RTH)</a:t>
            </a:r>
          </a:p>
          <a:p>
            <a:endParaRPr lang="en-IN" dirty="0"/>
          </a:p>
        </p:txBody>
      </p:sp>
      <p:sp>
        <p:nvSpPr>
          <p:cNvPr id="45" name="Shape 18">
            <a:extLst>
              <a:ext uri="{FF2B5EF4-FFF2-40B4-BE49-F238E27FC236}">
                <a16:creationId xmlns:a16="http://schemas.microsoft.com/office/drawing/2014/main" id="{5A408238-859C-D3BF-5D2E-AC7184D98769}"/>
              </a:ext>
            </a:extLst>
          </p:cNvPr>
          <p:cNvSpPr/>
          <p:nvPr/>
        </p:nvSpPr>
        <p:spPr>
          <a:xfrm>
            <a:off x="5923280" y="1026160"/>
            <a:ext cx="0" cy="5364480"/>
          </a:xfrm>
          <a:prstGeom prst="line">
            <a:avLst/>
          </a:prstGeom>
          <a:noFill/>
          <a:ln w="10160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tint val="90000"/>
                <a:lumMod val="110000"/>
              </a:schemeClr>
            </a:gs>
            <a:gs pos="100000">
              <a:schemeClr val="accent5">
                <a:lumMod val="60000"/>
                <a:lumOff val="4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>
            <a:extLst>
              <a:ext uri="{FF2B5EF4-FFF2-40B4-BE49-F238E27FC236}">
                <a16:creationId xmlns:a16="http://schemas.microsoft.com/office/drawing/2014/main" id="{19C9CDA5-24EC-D63C-B4DB-AEE34905A3F7}"/>
              </a:ext>
            </a:extLst>
          </p:cNvPr>
          <p:cNvSpPr/>
          <p:nvPr/>
        </p:nvSpPr>
        <p:spPr>
          <a:xfrm>
            <a:off x="487680" y="376936"/>
            <a:ext cx="9702800" cy="5628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3200" b="1" dirty="0">
                <a:solidFill>
                  <a:srgbClr val="000000"/>
                </a:solidFill>
                <a:latin typeface="Arial Black" pitchFamily="34" charset="0"/>
              </a:rPr>
              <a:t>ESC CALIBRATION</a:t>
            </a:r>
            <a:endParaRPr lang="en-US" sz="3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54EA93-D017-9409-363A-B6B8E21B9926}"/>
              </a:ext>
            </a:extLst>
          </p:cNvPr>
          <p:cNvSpPr txBox="1"/>
          <p:nvPr/>
        </p:nvSpPr>
        <p:spPr>
          <a:xfrm>
            <a:off x="640080" y="1320800"/>
            <a:ext cx="3535680" cy="4094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B95777-7480-C89A-B0AA-7187B3FC3B24}"/>
              </a:ext>
            </a:extLst>
          </p:cNvPr>
          <p:cNvSpPr txBox="1"/>
          <p:nvPr/>
        </p:nvSpPr>
        <p:spPr>
          <a:xfrm>
            <a:off x="487680" y="1066800"/>
            <a:ext cx="62382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Turn on transmitter with throttle at maximum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Connect LiPo battery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Wait for calibration beeps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Lower throttle to minimum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ESC stores max/min throttle value</a:t>
            </a:r>
          </a:p>
          <a:p>
            <a:endParaRPr lang="en-IN" dirty="0"/>
          </a:p>
        </p:txBody>
      </p:sp>
      <p:sp>
        <p:nvSpPr>
          <p:cNvPr id="8" name="Shape 0">
            <a:extLst>
              <a:ext uri="{FF2B5EF4-FFF2-40B4-BE49-F238E27FC236}">
                <a16:creationId xmlns:a16="http://schemas.microsoft.com/office/drawing/2014/main" id="{00CCE75A-BED7-EF25-9A5E-002C3DE44BA7}"/>
              </a:ext>
            </a:extLst>
          </p:cNvPr>
          <p:cNvSpPr/>
          <p:nvPr/>
        </p:nvSpPr>
        <p:spPr>
          <a:xfrm>
            <a:off x="0" y="0"/>
            <a:ext cx="12192000" cy="609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1">
            <a:extLst>
              <a:ext uri="{FF2B5EF4-FFF2-40B4-BE49-F238E27FC236}">
                <a16:creationId xmlns:a16="http://schemas.microsoft.com/office/drawing/2014/main" id="{1EA0C91A-D312-8CE4-6A9F-613FB7DCB76A}"/>
              </a:ext>
            </a:extLst>
          </p:cNvPr>
          <p:cNvSpPr/>
          <p:nvPr/>
        </p:nvSpPr>
        <p:spPr>
          <a:xfrm>
            <a:off x="0" y="6790944"/>
            <a:ext cx="12192000" cy="6705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6FAAF325-F00A-3A65-0D39-3CA77B8C955B}"/>
              </a:ext>
            </a:extLst>
          </p:cNvPr>
          <p:cNvSpPr/>
          <p:nvPr/>
        </p:nvSpPr>
        <p:spPr>
          <a:xfrm>
            <a:off x="487680" y="2709366"/>
            <a:ext cx="1121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800" b="1" dirty="0">
                <a:solidFill>
                  <a:srgbClr val="000000"/>
                </a:solidFill>
                <a:latin typeface="Arial Black" pitchFamily="34" charset="0"/>
              </a:rPr>
              <a:t>DRONE IMAGES</a:t>
            </a:r>
            <a:endParaRPr lang="en-US" sz="28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1CBDF35-E068-49F4-3AF3-F1ED98AED5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579472"/>
            <a:ext cx="3789481" cy="266029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FE20BF6-15F8-F5A6-14E1-50254DB159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2460" y="3444336"/>
            <a:ext cx="3155780" cy="2770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2091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tint val="90000"/>
                <a:lumMod val="110000"/>
              </a:schemeClr>
            </a:gs>
            <a:gs pos="100000">
              <a:schemeClr val="accent5">
                <a:lumMod val="60000"/>
                <a:lumOff val="4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D864B-55EC-CB49-FEE9-3DF36658FF4A}"/>
              </a:ext>
            </a:extLst>
          </p:cNvPr>
          <p:cNvSpPr txBox="1">
            <a:spLocks/>
          </p:cNvSpPr>
          <p:nvPr/>
        </p:nvSpPr>
        <p:spPr>
          <a:xfrm>
            <a:off x="1074821" y="2103437"/>
            <a:ext cx="10515600" cy="1325563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0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lgerian" panose="04020705040A02060702" pitchFamily="82" charset="0"/>
              </a:rPr>
              <a:t>THANK  </a:t>
            </a:r>
            <a:br>
              <a:rPr lang="en-IN" sz="10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lgerian" panose="04020705040A02060702" pitchFamily="82" charset="0"/>
              </a:rPr>
            </a:br>
            <a:r>
              <a:rPr lang="en-IN" sz="10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lgerian" panose="04020705040A02060702" pitchFamily="82" charset="0"/>
              </a:rPr>
              <a:t>YOU</a:t>
            </a:r>
            <a:endParaRPr lang="en-IN" sz="10000" b="1" dirty="0"/>
          </a:p>
        </p:txBody>
      </p:sp>
    </p:spTree>
    <p:extLst>
      <p:ext uri="{BB962C8B-B14F-4D97-AF65-F5344CB8AC3E}">
        <p14:creationId xmlns:p14="http://schemas.microsoft.com/office/powerpoint/2010/main" val="28648880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163</TotalTime>
  <Words>727</Words>
  <Application>Microsoft Office PowerPoint</Application>
  <PresentationFormat>Widescreen</PresentationFormat>
  <Paragraphs>120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Algerian</vt:lpstr>
      <vt:lpstr>Arial</vt:lpstr>
      <vt:lpstr>Arial Black</vt:lpstr>
      <vt:lpstr>Calibri</vt:lpstr>
      <vt:lpstr>Calibri Light</vt:lpstr>
      <vt:lpstr>Consolas</vt:lpstr>
      <vt:lpstr>Office Theme</vt:lpstr>
      <vt:lpstr>1_Office Theme</vt:lpstr>
      <vt:lpstr>QUADCOPTER  DRONE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Ishita Goyal</dc:creator>
  <cp:lastModifiedBy>Ishita Goyal</cp:lastModifiedBy>
  <cp:revision>1</cp:revision>
  <dcterms:created xsi:type="dcterms:W3CDTF">2026-03-15T14:20:45Z</dcterms:created>
  <dcterms:modified xsi:type="dcterms:W3CDTF">2026-03-15T17:04:24Z</dcterms:modified>
</cp:coreProperties>
</file>